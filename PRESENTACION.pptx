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A0522D"/>
                </a:solidFill>
                <a:latin typeface="Calibri"/>
              </a:rPr>
              <a:t>🍿 Doble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8B4513"/>
                </a:solidFill>
                <a:latin typeface="Calibri"/>
              </a:rPr>
              <a:t>Pop-up popcorn de sabores mixtos en República Dominicana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57600"/>
            <a:ext cx="7589520" cy="1463040"/>
          </a:xfrm>
          <a:prstGeom prst="roundRect">
            <a:avLst>
              <a:gd name="adj" fmla="val 8000"/>
            </a:avLst>
          </a:prstGeom>
          <a:solidFill>
            <a:srgbClr val="3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3794760"/>
            <a:ext cx="7223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800" b="1">
                <a:solidFill>
                  <a:srgbClr val="F5F0E1"/>
                </a:solidFill>
                <a:latin typeface="Calibri"/>
              </a:rPr>
              <a:t>Veredicto:</a:t>
            </a:r>
          </a:p>
          <a:p>
            <a:pPr>
              <a:lnSpc>
                <a:spcPct val="130000"/>
              </a:lnSpc>
            </a:pPr>
            <a:r>
              <a:rPr sz="1800" b="1">
                <a:solidFill>
                  <a:srgbClr val="F4C430"/>
                </a:solidFill>
                <a:latin typeface="Calibri"/>
              </a:rPr>
              <a:t>SÍ — pero como MVP de USD 3,500.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F5F0E1"/>
                </a:solidFill>
                <a:latin typeface="Calibri"/>
              </a:rPr>
              <a:t>Semi-pro solo después de probar la demanda.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B4513"/>
                </a:solidFill>
                <a:latin typeface="Calibri"/>
              </a:rPr>
              <a:t>Análisis para decisión personal GO / NO-GO  ·  Mayo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677316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Decisión en 30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4513"/>
                </a:solidFill>
                <a:latin typeface="Calibri"/>
              </a:rPr>
              <a:t>¿Qué hago ahora?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A2818"/>
                          </a:solidFill>
                          <a:latin typeface="Calibri"/>
                        </a:rPr>
                        <a:t>Si tienes...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A2818"/>
                          </a:solidFill>
                          <a:latin typeface="Calibri"/>
                        </a:rPr>
                        <a:t>Y...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A2818"/>
                          </a:solidFill>
                          <a:latin typeface="Calibri"/>
                        </a:rPr>
                        <a:t>Entonces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2818"/>
                          </a:solidFill>
                          <a:latin typeface="Calibri"/>
                        </a:rPr>
                        <a:t>USD 3,500 disponibles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2818"/>
                          </a:solidFill>
                          <a:latin typeface="Calibri"/>
                        </a:rPr>
                        <a:t>Puedes operar tú mismo 90 días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A9D3A"/>
                          </a:solidFill>
                          <a:latin typeface="Calibri"/>
                        </a:rPr>
                        <a:t>✅ GO MVP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2818"/>
                          </a:solidFill>
                          <a:latin typeface="Calibri"/>
                        </a:rPr>
                        <a:t>USD 3,500 disponibles</a:t>
                      </a:r>
                    </a:p>
                  </a:txBody>
                  <a:tcPr marL="50000" marR="50000" marT="40000" marB="40000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2818"/>
                          </a:solidFill>
                          <a:latin typeface="Calibri"/>
                        </a:rPr>
                        <a:t>No puedes dedicarle 4 días/semana</a:t>
                      </a:r>
                    </a:p>
                  </a:txBody>
                  <a:tcPr marL="50000" marR="50000" marT="40000" marB="40000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302E"/>
                          </a:solidFill>
                          <a:latin typeface="Calibri"/>
                        </a:rPr>
                        <a:t>❌ NO-GO o socio</a:t>
                      </a:r>
                    </a:p>
                  </a:txBody>
                  <a:tcPr marL="50000" marR="50000" marT="40000" marB="40000">
                    <a:solidFill>
                      <a:srgbClr val="FAF3E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2818"/>
                          </a:solidFill>
                          <a:latin typeface="Calibri"/>
                        </a:rPr>
                        <a:t>USD 12,000 disponibles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2818"/>
                          </a:solidFill>
                          <a:latin typeface="Calibri"/>
                        </a:rPr>
                        <a:t>Sin haber probado el producto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302E"/>
                          </a:solidFill>
                          <a:latin typeface="Calibri"/>
                        </a:rPr>
                        <a:t>❌ NO-GO — primero MVP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2818"/>
                          </a:solidFill>
                          <a:latin typeface="Calibri"/>
                        </a:rPr>
                        <a:t>&lt;USD 2,000</a:t>
                      </a:r>
                    </a:p>
                  </a:txBody>
                  <a:tcPr marL="50000" marR="50000" marT="40000" marB="40000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28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000" marR="50000" marT="40000" marB="40000">
                    <a:solidFill>
                      <a:srgbClr val="FAF3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8302E"/>
                          </a:solidFill>
                          <a:latin typeface="Calibri"/>
                        </a:rPr>
                        <a:t>❌ NO-GO</a:t>
                      </a:r>
                    </a:p>
                  </a:txBody>
                  <a:tcPr marL="50000" marR="50000" marT="40000" marB="40000">
                    <a:solidFill>
                      <a:srgbClr val="FAF3E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solidFill>
            <a:srgbClr val="FA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297680"/>
            <a:ext cx="63500" cy="16459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2818"/>
                </a:solidFill>
                <a:latin typeface="Calibri"/>
              </a:rPr>
              <a:t>El error caro: invertir USD 12K en el modelo semi-pro sin validar la demanda primero.
El error barato: probar 90 días con USD 3,500 y aprender.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2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354632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La oportunidad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8B4513"/>
                </a:solidFill>
                <a:latin typeface="Calibri"/>
              </a:rPr>
              <a:t>Por qué este negocio existe en RD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3A2818"/>
                </a:solidFill>
                <a:latin typeface="Calibri"/>
              </a:rPr>
              <a:t>•  Mercado de snacks RD = DOP 13.13 mil millones (2024), creciendo +8% anual hasta 2029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3A2818"/>
                </a:solidFill>
                <a:latin typeface="Calibri"/>
              </a:rPr>
              <a:t>•  Ningún operador físico vende popcorn gourmet fresco en RD: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3A2818"/>
                </a:solidFill>
                <a:latin typeface="Calibri"/>
              </a:rPr>
              <a:t>•     • Kopcalecas existe solo en Instagram, sin punto físico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3A2818"/>
                </a:solidFill>
                <a:latin typeface="Calibri"/>
              </a:rPr>
              <a:t>•     • Caribbean Cinemas / Palacio del Cine solo venden mantequilla — sin sabores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3A2818"/>
                </a:solidFill>
                <a:latin typeface="Calibri"/>
              </a:rPr>
              <a:t>•     • Lo importado (Act II, PopCorners) es popcorn empacado, no fresco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3A2818"/>
                </a:solidFill>
                <a:latin typeface="Calibri"/>
              </a:rPr>
              <a:t>•  51.8% de penetración e-commerce en RD (Kantar 2024) — canal delivery viable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3A2818"/>
                </a:solidFill>
                <a:latin typeface="Calibri"/>
              </a:rPr>
              <a:t>•  Turismo récord 2025: USD 170.94/día por turista; 94.7% lo considera asequible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3A2818"/>
                </a:solidFill>
                <a:latin typeface="Calibri"/>
              </a:rPr>
              <a:t>•  Bocao Food Fest no cobra comisión a restaurantes participantes — canal casi gratis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76200" cy="128016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8B4513"/>
                </a:solidFill>
                <a:latin typeface="Calibri"/>
              </a:rPr>
              <a:t>"En todo Santo Domingo no hay un solo lugar físico donde comprar una cubeta de popcorn fresco con dos sabores. Eso es un hueco, no un mercado saturado."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3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031949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La solución + marca 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522D"/>
                </a:solidFill>
                <a:latin typeface="Calibri"/>
              </a:rPr>
              <a:t>Arquitectura de producto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83080"/>
          <a:ext cx="4937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Producto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Tamaño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Precio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Mixta mediana ⭐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500g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A0522D"/>
                          </a:solidFill>
                          <a:latin typeface="Calibri"/>
                        </a:rPr>
                        <a:t>DOP 350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XL mixta familiar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1 kg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DOP 650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Mantequilla pequeña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250g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DOP 200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Caramelo pequeño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250g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DOP 250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Combo + bebida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500g+12oz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DOP 420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18872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0522D"/>
                </a:solidFill>
                <a:latin typeface="Calibri"/>
              </a:rPr>
              <a:t>Marca: "Doble"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3A2818"/>
                </a:solidFill>
                <a:latin typeface="Calibri"/>
              </a:rPr>
              <a:t>Nombre: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>Doble (corto, registrable ONAPI)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3A2818"/>
                </a:solidFill>
                <a:latin typeface="Calibri"/>
              </a:rPr>
              <a:t>Tagline: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8B4513"/>
                </a:solidFill>
                <a:latin typeface="Calibri"/>
              </a:rPr>
              <a:t>"Dos sabores. Una cubeta. Cero compromiso."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</a:pPr>
            <a:r>
              <a:rPr sz="1200" b="1">
                <a:solidFill>
                  <a:srgbClr val="3A2818"/>
                </a:solidFill>
                <a:latin typeface="Calibri"/>
              </a:rPr>
              <a:t>Tono: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>cercano, juvenil ("tú" no "usted"), honesto sobre origen panameño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114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A2818"/>
                </a:solidFill>
                <a:latin typeface="Calibri"/>
              </a:rPr>
              <a:t>Paleta: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4114800"/>
            <a:ext cx="914400" cy="27432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4114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3A2818"/>
                </a:solidFill>
                <a:latin typeface="Calibri"/>
              </a:rPr>
              <a:t>mantequilla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4114800"/>
            <a:ext cx="914400" cy="27432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5F0E1"/>
                </a:solidFill>
                <a:latin typeface="Calibri"/>
              </a:rPr>
              <a:t>caramelo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4114800"/>
            <a:ext cx="914400" cy="274320"/>
          </a:xfrm>
          <a:prstGeom prst="rect">
            <a:avLst/>
          </a:prstGeom>
          <a:solidFill>
            <a:srgbClr val="F5F0E1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11480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3A2818"/>
                </a:solidFill>
                <a:latin typeface="Calibri"/>
              </a:rPr>
              <a:t>crema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solidFill>
            <a:srgbClr val="FA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63500" cy="128016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2818"/>
                </a:solidFill>
                <a:latin typeface="Calibri"/>
              </a:rPr>
              <a:t>"En Panamá lo descubrimos: una sola cubeta, dos sabores, sin tener que elegir. En RD nadie lo hace. Lo trajimos."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4 / 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709265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Mercado y buyer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B4513"/>
                </a:solidFill>
                <a:latin typeface="Calibri"/>
              </a:rPr>
              <a:t>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3A2818"/>
                </a:solidFill>
                <a:latin typeface="Calibri"/>
              </a:rPr>
              <a:t>•  Tamaño: DOP 13.13B (2024)  ·  CAGR +8% a 2029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3A2818"/>
                </a:solidFill>
                <a:latin typeface="Calibri"/>
              </a:rPr>
              <a:t>•  Inflación general RD: 4.81% interanual (Nov 2025)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3A2818"/>
                </a:solidFill>
                <a:latin typeface="Calibri"/>
              </a:rPr>
              <a:t>•  Canasta básica: DOP 48,541 (Dic 2025) → presiona gasto discrecional</a:t>
            </a:r>
          </a:p>
          <a:p>
            <a:pPr>
              <a:lnSpc>
                <a:spcPct val="120000"/>
              </a:lnSpc>
            </a:pPr>
            <a:r>
              <a:rPr sz="1300" b="0">
                <a:solidFill>
                  <a:srgbClr val="3A2818"/>
                </a:solidFill>
                <a:latin typeface="Calibri"/>
              </a:rPr>
              <a:t>•  Ticket benchmarks: street food DOP 100 · McMeal DOP 390 · nuestro hero DOP 350 (zona dulce)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8B4513"/>
                </a:solidFill>
                <a:latin typeface="Calibri"/>
              </a:rPr>
              <a:t>3 personas concretas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A0522D"/>
                </a:solidFill>
                <a:latin typeface="Calibri"/>
              </a:rPr>
              <a:t>María,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3A2818"/>
                </a:solidFill>
                <a:latin typeface="Calibri"/>
              </a:rPr>
              <a:t>Profesional Piantini, soltera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Ocasión: sábado post-cine, viernes con amigas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WTP: DOP 300-500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Frecuencia: 1-2/mes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29184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429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A0522D"/>
                </a:solidFill>
                <a:latin typeface="Calibri"/>
              </a:rPr>
              <a:t>Carlos, 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886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3A2818"/>
                </a:solidFill>
                <a:latin typeface="Calibri"/>
              </a:rPr>
              <a:t>Wedding planner, 30-60 bodas/año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38912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Ocasión: estación snacks evento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WTP: DOP 250-400 (bulk)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Frecuencia: 2-5/mes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29184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429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A0522D"/>
                </a:solidFill>
                <a:latin typeface="Calibri"/>
              </a:rPr>
              <a:t>Lisa,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886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3A2818"/>
                </a:solidFill>
                <a:latin typeface="Calibri"/>
              </a:rPr>
              <a:t>Turista canadiense Punta Cana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38912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Ocasión: tour Zona Colonial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WTP: USD 6-12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Frecuencia: 1×/estancia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5 /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3386581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Competencia + 5 fuerzas de Porter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4513"/>
                </a:solidFill>
                <a:latin typeface="Calibri"/>
              </a:rPr>
              <a:t>Mapa de competidores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5394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Competidor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Caribbean Cinemas / Palacio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Directo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🟢 Bajo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Kopcalecas (IG only)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Directo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08F30"/>
                          </a:solidFill>
                          <a:latin typeface="Calibri"/>
                        </a:rPr>
                        <a:t>🟡 Medio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ChurroMania Sambil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Indirecto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08F30"/>
                          </a:solidFill>
                          <a:latin typeface="Calibri"/>
                        </a:rPr>
                        <a:t>🟡 Medio-alto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Bon, Polar, Cremos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Indirecto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08F30"/>
                          </a:solidFill>
                          <a:latin typeface="Calibri"/>
                        </a:rPr>
                        <a:t>🟡 Medio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Vendedores ambulantes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Indirecto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🟢 Bajo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0515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4513"/>
                </a:solidFill>
                <a:latin typeface="Calibri"/>
              </a:rPr>
              <a:t>5 fuerzas de Porter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417320"/>
          <a:ext cx="5394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Fuerza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Rivalidad existente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9D3A"/>
                          </a:solidFill>
                          <a:latin typeface="Calibri"/>
                        </a:rPr>
                        <a:t>🟢 Bajo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Nuevos entrantes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8302E"/>
                          </a:solidFill>
                          <a:latin typeface="Calibri"/>
                        </a:rPr>
                        <a:t>🔴 Alto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Sustitutos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08F30"/>
                          </a:solidFill>
                          <a:latin typeface="Calibri"/>
                        </a:rPr>
                        <a:t>🟡 Medio-alto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Poder proveedores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8302E"/>
                          </a:solidFill>
                          <a:latin typeface="Calibri"/>
                        </a:rPr>
                        <a:t>🔴 Alto (USD)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A2818"/>
                          </a:solidFill>
                          <a:latin typeface="Calibri"/>
                        </a:rPr>
                        <a:t>Poder compradores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D08F30"/>
                          </a:solidFill>
                          <a:latin typeface="Calibri"/>
                        </a:rPr>
                        <a:t>🟡 Medio (B2B)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solidFill>
            <a:srgbClr val="FB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63500" cy="1554480"/>
          </a:xfrm>
          <a:prstGeom prst="rect">
            <a:avLst/>
          </a:prstGeom>
          <a:solidFill>
            <a:srgbClr val="C83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2818"/>
                </a:solidFill>
                <a:latin typeface="Calibri"/>
              </a:rPr>
              <a:t>Amenaza dominante: nuevos entrantes (CAPEX bajo, copiable 6-12 meses).
Estrategia obligada: construir marca, no solo producto.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6 /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4063898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🚨 Bloqueador regulatorio + fiscalidad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solidFill>
            <a:srgbClr val="FBE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63500" cy="914400"/>
          </a:xfrm>
          <a:prstGeom prst="rect">
            <a:avLst/>
          </a:prstGeom>
          <a:solidFill>
            <a:srgbClr val="C83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2818"/>
                </a:solidFill>
                <a:latin typeface="Calibri"/>
              </a:rPr>
              <a:t>Hallazgo crítico: El Ayuntamiento del Distrito Nacional NO emite permisos para food trucks ni vendedores móviles desde hace años. Reglamento 9/2012 en revisión.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3A2818"/>
                </a:solidFill>
                <a:latin typeface="Calibri"/>
              </a:rPr>
              <a:t>Consecuencia directa: solo mall, evento, feria o canal privado. NO calle / Malecón / Zona Colonial.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4513"/>
                </a:solidFill>
                <a:latin typeface="Calibri"/>
              </a:rPr>
              <a:t>Trámites legales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97180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Trámite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DIGEMAPS Registro Sanitario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8302E"/>
                          </a:solidFill>
                          <a:latin typeface="Calibri"/>
                        </a:rPr>
                        <a:t>60-90 días — día 1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RNC + Cámara Comercio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1-2 sem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ONAPI marca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4-8 meses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Carné manipulador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2-3 sem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2606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4513"/>
                </a:solidFill>
                <a:latin typeface="Calibri"/>
              </a:rPr>
              <a:t>Fiscalidad RD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297180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Aplica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ITBIS 18%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✅ Sí — DOP 350 incluye DOP 53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ISC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❌ No (no aplica popcorn)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RST ⭐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✅ Hasta RD$10.74M/año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217920" y="4937760"/>
            <a:ext cx="539496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937760"/>
            <a:ext cx="63500" cy="731520"/>
          </a:xfrm>
          <a:prstGeom prst="rect">
            <a:avLst/>
          </a:prstGeom>
          <a:solidFill>
            <a:srgbClr val="3A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2818"/>
                </a:solidFill>
                <a:latin typeface="Calibri"/>
              </a:rPr>
              <a:t>Acción: registrarse en RST desde día 1 — ahorra contador mensual.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7 / 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4741214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Modelo: B2C + B2B paralelo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Ranking de canales B2C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50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Canal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🏆 1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Ferias gastronómicas (Bocao, Agroalimentaria)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Sin comisión Bocao, validación rápida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🎯 2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Eventos privados (bodas, graduaciones)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Ticket alto, paga upfront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🏬 3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Kiosko mall (Ágora → Sambil/Blue Mall)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Tráfico continuo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📱 4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Delivery + apps (IG, PedidosYa, Uber Eats)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Cobertura permanente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Calle / Malecón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8302E"/>
                          </a:solidFill>
                          <a:latin typeface="Calibri"/>
                        </a:rPr>
                        <a:t>NO PERMITIDO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Canal B2B paralelo — palanca de margen alto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02336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B2B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Frec.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Margen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Activar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A2818"/>
                          </a:solidFill>
                          <a:latin typeface="Calibri"/>
                        </a:rPr>
                        <a:t>Catering wedding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DOP 50-150K/ev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2-6/mes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50-60%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A9D3A"/>
                          </a:solidFill>
                          <a:latin typeface="Calibri"/>
                        </a:rPr>
                        <a:t>Mes 2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Marca blanca hoteles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DOP 30-80K/mes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Mensual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40-50%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Mes 6+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"Popcorn Friday" oficinas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DOP 10-25K/sem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Semanal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55-65%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A2818"/>
                          </a:solidFill>
                          <a:latin typeface="Calibri"/>
                        </a:rPr>
                        <a:t>Mes 6+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402336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3A2818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160520"/>
            <a:ext cx="37490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1">
                <a:solidFill>
                  <a:srgbClr val="F4C430"/>
                </a:solidFill>
                <a:latin typeface="Courier New"/>
              </a:rPr>
              <a:t>P&amp;L UNITARIO — Cubeta DOP 350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5F0E1"/>
                </a:solidFill>
                <a:latin typeface="Courier New"/>
              </a:rPr>
              <a:t/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5F0E1"/>
                </a:solidFill>
                <a:latin typeface="Courier New"/>
              </a:rPr>
              <a:t>PVP            DOP 350.00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5F0E1"/>
                </a:solidFill>
                <a:latin typeface="Courier New"/>
              </a:rPr>
              <a:t>ITBIS (18%)    DOP  53.39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5F0E1"/>
                </a:solidFill>
                <a:latin typeface="Courier New"/>
              </a:rPr>
              <a:t>Neto           DOP 296.61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5F0E1"/>
                </a:solidFill>
                <a:latin typeface="Courier New"/>
              </a:rPr>
              <a:t>COGS (32%)     DOP 112.00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8B7355"/>
                </a:solidFill>
                <a:latin typeface="Courier New"/>
              </a:rPr>
              <a:t>─────────────────────</a:t>
            </a:r>
          </a:p>
          <a:p>
            <a:pPr>
              <a:lnSpc>
                <a:spcPct val="115000"/>
              </a:lnSpc>
            </a:pPr>
            <a:r>
              <a:rPr sz="1000" b="1">
                <a:solidFill>
                  <a:srgbClr val="F4C430"/>
                </a:solidFill>
                <a:latin typeface="Courier New"/>
              </a:rPr>
              <a:t>Margen bruto   DOP 184.61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4C430"/>
                </a:solidFill>
                <a:latin typeface="Courier New"/>
              </a:rPr>
              <a:t>≈ 68% sobre neto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8 / 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418531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Inversión + techo de capacidad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25400">
            <a:solidFill>
              <a:srgbClr val="3A9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A9D3A"/>
                </a:solidFill>
                <a:latin typeface="Calibri"/>
              </a:rPr>
              <a:t>MVP — DOP 205,000 (USD 3,475)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Máquina 8oz usada o Vevor nuevo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Pre-cocción caramelo manual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Carpa 3×3 + mesa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Inventario 30 días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Marketing lanzamiento DOP 10K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Capital trabajo 1 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3A9D3A"/>
                </a:solidFill>
                <a:latin typeface="Calibri"/>
              </a:rPr>
              <a:t>Break-even base: Mes 7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Riesgo si falla: pérdida acotada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94960" cy="36576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25400">
            <a:solidFill>
              <a:srgbClr val="D08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08F30"/>
                </a:solidFill>
                <a:latin typeface="Calibri"/>
              </a:rPr>
              <a:t>Semi-pro — DOP 732,000 (USD 12,407)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Máquina 12oz comercial nueva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Caramelizer dedicado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Módulo branded profesional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Inventario 60 días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Marketing DOP 60K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Capital trabajo 2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9319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D08F30"/>
                </a:solidFill>
                <a:latin typeface="Calibri"/>
              </a:rPr>
              <a:t>Break-even base: Mes 20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Riesgo si falla: pérdida significativa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Techo físico de capacidad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Máquina 8oz: 700-900 tazas/hora teórico → 60-80 cubetas reales/hora con 1 operador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Día operativo real: 30-60 u/día kiosko regular  ·  150-200 u/día evento alto</a:t>
            </a:r>
          </a:p>
          <a:p>
            <a:pPr>
              <a:lnSpc>
                <a:spcPct val="120000"/>
              </a:lnSpc>
            </a:pPr>
            <a:r>
              <a:rPr sz="1100" b="1">
                <a:solidFill>
                  <a:srgbClr val="3A2818"/>
                </a:solidFill>
                <a:latin typeface="Calibri"/>
              </a:rPr>
              <a:t>•  La máquina NO es el cuello de botella — el tráfico sí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9 / 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Break-even y proyección 12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Curva de adopción MVP (escenario base)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5269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Unidades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Ingresos DOP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Utilidad neta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Acumulado vs CAPEX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115,500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8302E"/>
                          </a:solidFill>
                          <a:latin typeface="Calibri"/>
                        </a:rPr>
                        <a:t>-26,460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8302E"/>
                          </a:solidFill>
                          <a:latin typeface="Calibri"/>
                        </a:rPr>
                        <a:t>-231,460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520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182,000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+18,760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8302E"/>
                          </a:solidFill>
                          <a:latin typeface="Calibri"/>
                        </a:rPr>
                        <a:t>-217,740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660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231,000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+52,080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8302E"/>
                          </a:solidFill>
                          <a:latin typeface="Calibri"/>
                        </a:rPr>
                        <a:t>-127,860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252,000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+66,360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+100 ⬅ BREAK-EVEN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252,000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+66,360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+132,820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850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297,500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+92,300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+374,020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Unidades necesarias para recuperar inversión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389120"/>
          <a:ext cx="7772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42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Plazo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MVP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Semi-Pro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3 meses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~26 u/día (alto)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~93 u/día (irrealista)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6 meses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~13 u/día (realista)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~47 u/día (agresivo)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12 meses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~7 u/día (seguro)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~23 u/día (alcanzable)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03920" y="4389120"/>
            <a:ext cx="310896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0" y="4389120"/>
            <a:ext cx="63500" cy="1371600"/>
          </a:xfrm>
          <a:prstGeom prst="rect">
            <a:avLst/>
          </a:prstGeom>
          <a:solidFill>
            <a:srgbClr val="3A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44805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2818"/>
                </a:solidFill>
                <a:latin typeface="Calibri"/>
              </a:rPr>
              <a:t>MVP recupera con 13 u/día sostenidas — meta a verificar en los primeros 90 días.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10 /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6773163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Top 5 riesgos críticos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Prob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Impacto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Mitigación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Sub-escala &lt;15 u/día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8302E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Validar pre-CAPEX con 50 u piloto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Nuevo entrante copia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Alta (6-12m)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Marca y recurrencia, no solo producto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Riesgo cambiario USD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Lotes 60-90 días; maíz local 50%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Apagones EDESUR 17h/mes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Operar en malls con planta propia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Huracanes Q3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Plan B: delivery + B2B oficinas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0233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Riesgo cambiario en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Si DOP se deprecia 10% vs USD: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COGS sube DOP 112 → DOP 124 (+10.7%)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Margen bruto cae de 68% → 64.6%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A 660 u/mes: −DOP 7,920/mes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No crítico inmediato, pero erosiona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1605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Apagones — mitigación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57200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EDESUR Nov 2025: 17.01 h/mes sin luz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Blackout nacional Nov 2025: 14 horas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Máquina 850W no opera sin luz</a:t>
            </a:r>
          </a:p>
          <a:p>
            <a:pPr>
              <a:lnSpc>
                <a:spcPct val="12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•  Mejor mitigación gratis: malls con planta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•  Opcional: planta portátil 2000W DOP 35-55K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11 /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7450480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SWOT condensado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40680" cy="26517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25400">
            <a:solidFill>
              <a:srgbClr val="3A9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A9D3A"/>
                </a:solidFill>
                <a:latin typeface="Calibri"/>
              </a:rPr>
              <a:t>✅ Fortalezas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CAPEX MVP bajo (~USD 3.5K)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Margen bruto sano (68%)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Concepto diferenciador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Producto "instagrameable"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Flexibilidad pop-up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440680" cy="265176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25400">
            <a:solidFill>
              <a:srgbClr val="D08F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08F30"/>
                </a:solidFill>
                <a:latin typeface="Calibri"/>
              </a:rPr>
              <a:t>⚠️ Debilidades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Sin experiencia en formato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Dependencia del fundador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Insumos críticos USD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Educación del consumidor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Sin marca registrada al inicio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40680" cy="2651760"/>
          </a:xfrm>
          <a:prstGeom prst="roundRect">
            <a:avLst>
              <a:gd name="adj" fmla="val 6000"/>
            </a:avLst>
          </a:prstGeom>
          <a:solidFill>
            <a:srgbClr val="E0EEFF"/>
          </a:solidFill>
          <a:ln w="25400">
            <a:solidFill>
              <a:srgbClr val="3C7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C78C8"/>
                </a:solidFill>
                <a:latin typeface="Calibri"/>
              </a:rPr>
              <a:t>🎯 Oportunidades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Mercado snacks +8% CAGR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Vacío competitivo claro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E-commerce 51.8%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Bocao sin comisión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Turismo USD 170/día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Eventos privados Q4 + Marzo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23360"/>
            <a:ext cx="5440680" cy="2651760"/>
          </a:xfrm>
          <a:prstGeom prst="roundRect">
            <a:avLst>
              <a:gd name="adj" fmla="val 6000"/>
            </a:avLst>
          </a:prstGeom>
          <a:solidFill>
            <a:srgbClr val="FFE0E0"/>
          </a:solidFill>
          <a:ln w="25400">
            <a:solidFill>
              <a:srgbClr val="C83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11480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8302E"/>
                </a:solidFill>
                <a:latin typeface="Calibri"/>
              </a:rPr>
              <a:t>🚨 Amenazas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57200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ADN bloquea food trucks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Apagones EDESUR 17h/mes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Inflación alimentos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Cines pueden agregar caramelo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Nuevos entrantes copiables 6m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>•  Huracanes Q3 al aire libre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12 / 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8127796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Calendario operativo Q1-Q4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Trimestre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Intensidad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Eventos clave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Q1 (Ene-Mar)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🟢 Media-alta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Tres Reyes, Carnaval, Semana Santa, graduaciones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Eventos privados + recuperar Q4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Q2 (Abr-Jun)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🟢 Alta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Día Madres, Día Padres, graduaciones universidad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Pico de eventos B2B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Q3 (Jul-Sep)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08F30"/>
                          </a:solidFill>
                          <a:latin typeface="Calibri"/>
                        </a:rPr>
                        <a:t>🟡 Baja → muy baja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Verano (Jul alto), huracanes Sep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08F30"/>
                          </a:solidFill>
                          <a:latin typeface="Calibri"/>
                        </a:rPr>
                        <a:t>Plan B: delivery + oficinas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2818"/>
                          </a:solidFill>
                          <a:latin typeface="Calibri"/>
                        </a:rPr>
                        <a:t>Q4 (Oct-Dic)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8302E"/>
                          </a:solidFill>
                          <a:latin typeface="Calibri"/>
                        </a:rPr>
                        <a:t>🔴 Pico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Bocao, viernes negro, Navidad, diáspora regresa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Mayor marketing + contratar refuerzo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solidFill>
            <a:srgbClr val="FA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63500" cy="201168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2818"/>
                </a:solidFill>
                <a:latin typeface="Calibri"/>
              </a:rPr>
              <a:t>Plan B para temporada de huracanes (Sep-Oct):
•  Stock insumos 60 días pre-temporada
•  Activar canal delivery + "Popcorn Friday" B2B oficinas (interior)
•  Eventos al aire libre: seguro de cancelación o contrato cubierto
•  Stories IG con disponibilidad durante eventos meteorológicos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8805113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KPIs y dashboard semanal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4513"/>
                </a:solidFill>
                <a:latin typeface="Calibri"/>
              </a:rPr>
              <a:t>Métricas operativas (medir desde día 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Sem 1-4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Sem 5-12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Sem 13+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Unidades/día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≥10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≥20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≥30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Ticket promedio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DOP 280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DOP 320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DOP 350+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% cubeta mixta del total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≥30%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≥45%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≥55%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Conversión visitantes→ventas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≥5%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≥8%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≥10%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Tiempo de servicio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≤90s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≤75s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≤60s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Costo MP/cubeta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DOP 130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DOP 120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A9D3A"/>
                          </a:solidFill>
                          <a:latin typeface="Calibri"/>
                        </a:rPr>
                        <a:t>DOP 112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48056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0522D"/>
                </a:solidFill>
                <a:latin typeface="Calibri"/>
              </a:rPr>
              <a:t>Comerciales (semanal)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A2818"/>
                </a:solidFill>
                <a:latin typeface="Calibri"/>
              </a:rPr>
              <a:t>Ingresos brutos · Margen contributivo · CAC orgánico · % recurrentes · Seguidores IG netos · Engagement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48056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5720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0522D"/>
                </a:solidFill>
                <a:latin typeface="Calibri"/>
              </a:rPr>
              <a:t>Financieras (mensual)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9377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A2818"/>
                </a:solidFill>
                <a:latin typeface="Calibri"/>
              </a:rPr>
              <a:t>EBITDA · Burn rate · Runway · Acumulado vs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14 /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482429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Decision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0522D"/>
                </a:solidFill>
                <a:latin typeface="Calibri"/>
              </a:rPr>
              <a:t>Gate 1 — Día 30 (piloto pre-CAPEX)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A2818"/>
                </a:solidFill>
                <a:latin typeface="Calibri"/>
              </a:rPr>
              <a:t>Continúas si cumples ≥3 de 4: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Lote piloto vendió ≥80%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≥30% eligió cubeta mixta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≥1 wedding planner aceptó muestra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IG llegó a 500+ seguidores en 30 días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949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0522D"/>
                </a:solidFill>
                <a:latin typeface="Calibri"/>
              </a:rPr>
              <a:t>Gate 2 — Día 90 (post-MVP)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A2818"/>
                </a:solidFill>
                <a:latin typeface="Calibri"/>
              </a:rPr>
              <a:t>Escalas a mall fijo si cumples ≥3 de 4: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2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Promedio ≥20 u/día últimos 30 días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Margen bruto efectivo ≥60%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EBITDA mensual ≥0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Mall acepta cotización ≤RD$50K/mes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53949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7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0522D"/>
                </a:solidFill>
                <a:latin typeface="Calibri"/>
              </a:rPr>
              <a:t>Gate 3 — Día 180 (semi-pro)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3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A2818"/>
                </a:solidFill>
                <a:latin typeface="Calibri"/>
              </a:rPr>
              <a:t>Inviertes CAPEX semi-pro solo si: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79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≥30 u/día sostenido últimos 60 días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≥8 eventos B2B cerrados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EBITDA mensual ≥ DOP 50K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Demanda no atendida lo justifica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39496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83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7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302E"/>
                </a:solidFill>
                <a:latin typeface="Calibri"/>
              </a:rPr>
              <a:t>Gate 4 — Día 270 (pivot/cierre)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0623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A2818"/>
                </a:solidFill>
                <a:latin typeface="Calibri"/>
              </a:rPr>
              <a:t>🛑 Reconsidera todo si: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79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Pierdes dinero 3 meses consecutivos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Apareció competidor con producto similar más barato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☐  No has alcanzado 25 u/día promedio en último 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15 / 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159745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Plan de 90 días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0522D"/>
                </a:solidFill>
                <a:latin typeface="Calibri"/>
              </a:rPr>
              <a:t>Mes 1 — Cimientos legales y validación cero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1: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Iniciar DIGEMAPS · RNC + RST · Cuentas IG/TikTok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2: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Lote piloto 50 cubetas, vender en 1 evento + 1 feria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3: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Llamar 4 malls + 2 wedding planners + Bocao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4: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🚦 Decisión Gate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0522D"/>
                </a:solidFill>
                <a:latin typeface="Calibri"/>
              </a:rPr>
              <a:t>Mes 2 — Compra equipo y primeros canales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5: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Comprar CAPEX MVP completo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6: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1ª feria pagada + 1 evento privado pagado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7: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Iniciar pauta IG/TikTok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8: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Cerrar 2-3 eventos B2B; 1 mall en conversación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110642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0522D"/>
                </a:solidFill>
                <a:latin typeface="Calibri"/>
              </a:rPr>
              <a:t>Mes 3 — Velocidad y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9: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Operar 4-5 días/semana entre eventos + kiosko temporal si mall acepta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10: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Medir conversión, ticket, % mixto vs single — ajustar precio si necesario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11: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Activar 1 wedding planner como cliente recurrente B2B</a:t>
            </a:r>
          </a:p>
          <a:p>
            <a:pPr>
              <a:lnSpc>
                <a:spcPct val="150000"/>
              </a:lnSpc>
            </a:pPr>
            <a:r>
              <a:rPr sz="1000" b="1">
                <a:solidFill>
                  <a:srgbClr val="3A2818"/>
                </a:solidFill>
                <a:latin typeface="Calibri"/>
              </a:rPr>
              <a:t>Sem 12: </a:t>
            </a:r>
          </a:p>
          <a:p>
            <a:pPr>
              <a:lnSpc>
                <a:spcPct val="150000"/>
              </a:lnSpc>
            </a:pPr>
            <a:r>
              <a:rPr sz="1000" b="0">
                <a:solidFill>
                  <a:srgbClr val="3A2818"/>
                </a:solidFill>
                <a:latin typeface="Calibri"/>
              </a:rPr>
              <a:t>🚦 Decisión Gate 2 — escalar a kiosko fijo o quedarse en eventos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16 /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0837062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Diferenciador opcional: empaque biodegradable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640080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A0522D"/>
                </a:solidFill>
                <a:latin typeface="Calibri"/>
              </a:rPr>
              <a:t>El argumento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>•  Proveedores RD existen: We Supply Dominicana, ProEmpaques Nacionales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>•  Costo incremental: +DOP 8-15 por cubeta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>•  Impacto a 660 u/mes: +DOP 5,280-9,900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>•  Beneficio: diferenciador único vs cines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>•  Apela a María (consumidora consciente)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3A2818"/>
                </a:solidFill>
                <a:latin typeface="Calibri"/>
              </a:rPr>
              <a:t>•  Narrativa potente para redes sociales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097280"/>
            <a:ext cx="43891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12344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A0522D"/>
                </a:solidFill>
                <a:latin typeface="Calibri"/>
              </a:rPr>
              <a:t>Recomendación por fase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1783080"/>
          <a:ext cx="3931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A2818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marL="50000" marR="50000" marT="40000" marB="40000">
                    <a:solidFill>
                      <a:srgbClr val="F4C4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MVP (mes 1-3)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C8302E"/>
                          </a:solidFill>
                          <a:latin typeface="Calibri"/>
                        </a:rPr>
                        <a:t>❌ No incluir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Mes 4-6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D08F30"/>
                          </a:solidFill>
                          <a:latin typeface="Calibri"/>
                        </a:rPr>
                        <a:t>⚠️ Upgrade pagado +DOP 20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2818"/>
                          </a:solidFill>
                          <a:latin typeface="Calibri"/>
                        </a:rPr>
                        <a:t>Mes 7+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A9D3A"/>
                          </a:solidFill>
                          <a:latin typeface="Calibri"/>
                        </a:rPr>
                        <a:t>✅ Estándar de marca</a:t>
                      </a:r>
                    </a:p>
                  </a:txBody>
                  <a:tcPr marL="50000" marR="5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17 / 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1514378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1064240" cy="508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A0522D"/>
                </a:solidFill>
                <a:latin typeface="Calibri"/>
              </a:rPr>
              <a:t>La pregunta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B4513"/>
                </a:solidFill>
                <a:latin typeface="Calibri"/>
              </a:rPr>
              <a:t>Antes de gastar el primer peso, respóndete con honestidad: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>
                <a:solidFill>
                  <a:srgbClr val="3A2818"/>
                </a:solidFill>
                <a:latin typeface="Calibri"/>
              </a:rPr>
              <a:t>1. ¿Puedo dedicarle 4-5 días/semana en los primeros 90 días?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8B7355"/>
                </a:solidFill>
                <a:latin typeface="Calibri"/>
              </a:rPr>
              <a:t>Sin esto, ni el MVP funciona — necesitas estar en el sitio.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3A2818"/>
                </a:solidFill>
                <a:latin typeface="Calibri"/>
              </a:rPr>
              <a:t>2. ¿Tengo USD 3,500 que pueda perder sin afectar mi estabilidad?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8B7355"/>
                </a:solidFill>
                <a:latin typeface="Calibri"/>
              </a:rPr>
              <a:t>El MVP puede fallar. Si esa pérdida te quiebra, no entres.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3A2818"/>
                </a:solidFill>
                <a:latin typeface="Calibri"/>
              </a:rPr>
              <a:t>3. ¿Tengo paciencia para 7 meses sin retorno?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8B7355"/>
                </a:solidFill>
                <a:latin typeface="Calibri"/>
              </a:rPr>
              <a:t>El break-even base es mes 7. Antes de eso, estás en rojo.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3A2818"/>
                </a:solidFill>
                <a:latin typeface="Calibri"/>
              </a:rPr>
              <a:t>4. ¿Conozco a 2-3 wedding planners u organizadores de eventos en RD?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8B7355"/>
                </a:solidFill>
                <a:latin typeface="Calibri"/>
              </a:rPr>
              <a:t>Si no, el canal B2B (margen alto) no se activa fácil.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</a:pPr>
            <a:r>
              <a:rPr sz="1100" b="1">
                <a:solidFill>
                  <a:srgbClr val="3A2818"/>
                </a:solidFill>
                <a:latin typeface="Calibri"/>
              </a:rPr>
              <a:t>5. ¿Me emociona vender popcorn, o solo me emociona tener un negocio?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8B7355"/>
                </a:solidFill>
                <a:latin typeface="Calibri"/>
              </a:rPr>
              <a:t>Lo segundo se apaga en 60 días. Lo primero te sostiene en mes 9.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3A2818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93776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3A9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 las 5 respuestas son SÍ  →  GO MVP, empezar Mes 1 esta semana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D08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 tienes 1 NO  →  revisar qué falta antes de invertir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12648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C83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 tienes ≥2 NO  →  NO-GO por ahora, archivar idea con honestidad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0522D"/>
                </a:solidFill>
                <a:latin typeface="Calibri"/>
              </a:rPr>
              <a:t>18 /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05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